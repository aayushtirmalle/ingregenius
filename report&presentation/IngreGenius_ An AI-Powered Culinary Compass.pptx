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Lor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ra-bold.fntdata"/><Relationship Id="rId14" Type="http://schemas.openxmlformats.org/officeDocument/2006/relationships/font" Target="fonts/Lora-regular.fntdata"/><Relationship Id="rId17" Type="http://schemas.openxmlformats.org/officeDocument/2006/relationships/font" Target="fonts/Lora-boldItalic.fntdata"/><Relationship Id="rId16" Type="http://schemas.openxmlformats.org/officeDocument/2006/relationships/font" Target="fonts/Lor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c325a5cd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c325a5cd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c325a5cd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c325a5cd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dc325a5cd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dc325a5cd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c325a5cd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dc325a5cd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c325a5cd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dc325a5cd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c325a5cd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dc325a5cd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dc325a5cd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dc325a5cd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IngreGenius: An AI-Powered Culinary Compass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790">
                <a:latin typeface="Lora"/>
                <a:ea typeface="Lora"/>
                <a:cs typeface="Lora"/>
                <a:sym typeface="Lora"/>
              </a:rPr>
              <a:t>A Vision-to-Recipe System for Smarter Meal Planning</a:t>
            </a:r>
            <a:endParaRPr sz="179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32825" y="3588800"/>
            <a:ext cx="6457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Computer Vision Final Project</a:t>
            </a:r>
            <a:endParaRPr sz="17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Presented By -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Aayush Manoj Tirmalle (aayushmtirmalle@gmail.com)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Shreeharsh Ashok Gudibandi (shreeharshg65@gmail.com)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Even when our refrigerators are full, we often face the same frustrating questions every day: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Decision Fatigue</a:t>
            </a:r>
            <a:r>
              <a:rPr lang="en" sz="1400"/>
              <a:t>: "What can I possibly make with a random assortment of ingredients?" This leads to frustration and defaulting to unhealthy takeout.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Food Waste</a:t>
            </a:r>
            <a:r>
              <a:rPr lang="en" sz="1400"/>
              <a:t>: We buy fresh groceries with good intentions, but a lack of inspiration means ingredients are often forgotten and spoil. A lot of the food supply is wasted.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"</a:t>
            </a:r>
            <a:r>
              <a:rPr b="1" lang="en" sz="1400"/>
              <a:t>Recipe Rut</a:t>
            </a:r>
            <a:r>
              <a:rPr lang="en" sz="1400"/>
              <a:t>": We fall back on the same 2-3 familiar meals, missing out on creative and healthier ways to use the food we already have.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295"/>
              <a:t>Our goal is to solve this problem by creating “IngreGenius”, a smart kitchen assistant with a clear, focused objective: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295"/>
              <a:t>“</a:t>
            </a:r>
            <a:r>
              <a:rPr i="1" lang="en" sz="1295"/>
              <a:t>To seamlessly transform a visual snapshot of available ingredients into actionable, categorized, and inspiring recipe suggestions.</a:t>
            </a:r>
            <a:r>
              <a:rPr lang="en" sz="1295"/>
              <a:t>”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295"/>
              <a:t>To achieve this, we set four key technical objectives: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95"/>
              <a:buChar char="●"/>
            </a:pPr>
            <a:r>
              <a:rPr b="1" lang="en" sz="1295"/>
              <a:t>Develop a Robust Vision System</a:t>
            </a:r>
            <a:r>
              <a:rPr lang="en" sz="1295"/>
              <a:t>: Train a state-of-the-art YOLOv8 model to accurately identify a wide range of food items from a single image.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" sz="1295"/>
              <a:t>Integrate a Creative AI Chef</a:t>
            </a:r>
            <a:r>
              <a:rPr lang="en" sz="1295"/>
              <a:t>: Leverage a powerful Large Language Model (LLM) to dynamically generate high-quality, easy-to-follow recipes.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" sz="1295"/>
              <a:t>Provide Intelligent Suggestions</a:t>
            </a:r>
            <a:r>
              <a:rPr lang="en" sz="1295"/>
              <a:t>: Go beyond simple generation by offering users two distinct options: a Healthy recipe and a Tasty recipe, catering to different needs.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" sz="1295"/>
              <a:t>Create a Frictionless User Experience</a:t>
            </a:r>
            <a:r>
              <a:rPr lang="en" sz="1295"/>
              <a:t>: Build an intuitive, multi-page Streamlit application that guides the user from photo to meal plan in just a few clicks.</a:t>
            </a:r>
            <a:endParaRPr sz="12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 - Building the "Super-Dataset"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The Problem</a:t>
            </a:r>
            <a:r>
              <a:rPr lang="en" sz="1200"/>
              <a:t>: Conflicting Datasets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We started with multiple source datasets to get a wide variety of ingredients.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They had major inconsistencies: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Conflicting Classes</a:t>
            </a:r>
            <a:r>
              <a:rPr lang="en" sz="1200"/>
              <a:t>: "Tomato" in one, "tomato" in another.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Conflicting Indices</a:t>
            </a:r>
            <a:r>
              <a:rPr lang="en" sz="1200"/>
              <a:t>: The same object (e.g., "Apple") was class 2 in one dataset and class 15 in another.</a:t>
            </a:r>
            <a:endParaRPr sz="1200"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Solution</a:t>
            </a:r>
            <a:r>
              <a:rPr lang="en"/>
              <a:t>: A 3-Step Unification Pipeline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built a custom data pipeline to solve this:</a:t>
            </a:r>
            <a:endParaRPr/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Create a Master Class List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Defined a single, standardized list of all unique classes (e.g., everything became lowercase).</a:t>
            </a:r>
            <a:endParaRPr/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Automated Label Remapping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Wrote a Python script (remap_labels.py) that automatically read all original labels and rewrote them using the new, consistent master indices.</a:t>
            </a:r>
            <a:endParaRPr/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Virtual Dataset Merging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Created a single master_data.yaml file that tells YOLOv8 to pull images from all source folders, creating a "virtual" super-dataset without duplicating image files.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&amp; Data Flow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589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Tech stack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Frontend</a:t>
            </a:r>
            <a:r>
              <a:rPr lang="en" sz="1300"/>
              <a:t>: Streamlit (for rapid, interactive UI development)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Vision Model</a:t>
            </a:r>
            <a:r>
              <a:rPr lang="en" sz="1300"/>
              <a:t>: YOLOv8s (for its optimal balance of speed and accuracy)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Language Model</a:t>
            </a:r>
            <a:r>
              <a:rPr lang="en" sz="1300"/>
              <a:t>: Deepseek LLM (for high-quality, creative recipe generation)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Prompt Engineering</a:t>
            </a:r>
            <a:r>
              <a:rPr lang="en" sz="1300"/>
              <a:t>: We used a “single API call” to generate both recipes, overcoming rate limits and improving efficiency.</a:t>
            </a:r>
            <a:endParaRPr sz="1300"/>
          </a:p>
        </p:txBody>
      </p:sp>
      <p:pic>
        <p:nvPicPr>
          <p:cNvPr id="82" name="Google Shape;82;p17" title="Untitled diagram-2025-10-28-104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025" y="717275"/>
            <a:ext cx="1807200" cy="38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35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Deep Dive: The AI Core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69450" y="1348050"/>
            <a:ext cx="2454900" cy="2839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r>
              <a:rPr b="1" lang="en"/>
              <a:t>.</a:t>
            </a:r>
            <a:r>
              <a:rPr lang="en"/>
              <a:t> </a:t>
            </a:r>
            <a:r>
              <a:rPr b="1" lang="en"/>
              <a:t>Computer Vision Layer: The "Eyes"</a:t>
            </a:r>
            <a:endParaRPr b="1"/>
          </a:p>
          <a:p>
            <a:pPr indent="-282892" lvl="0" marL="314325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Component</a:t>
            </a:r>
            <a:r>
              <a:rPr lang="en"/>
              <a:t>: food_detector.py</a:t>
            </a:r>
            <a:br>
              <a:rPr lang="en"/>
            </a:br>
            <a:endParaRPr/>
          </a:p>
          <a:p>
            <a:pPr indent="-282892" lvl="0" marL="314325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Function</a:t>
            </a:r>
            <a:r>
              <a:rPr lang="en"/>
              <a:t>: Loads our custom-trained YOLOvَ8s model to perform inference on the user's image and returns the final list of detected ingredients.</a:t>
            </a:r>
            <a:br>
              <a:rPr lang="en"/>
            </a:br>
            <a:endParaRPr/>
          </a:p>
          <a:p>
            <a:pPr indent="-282892" lvl="0" marL="314325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Why YOLOv8s?</a:t>
            </a:r>
            <a:br>
              <a:rPr b="1" lang="en"/>
            </a:br>
            <a:endParaRPr b="1"/>
          </a:p>
          <a:p>
            <a:pPr indent="-270827" lvl="1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Architecture</a:t>
            </a:r>
            <a:r>
              <a:rPr lang="en"/>
              <a:t>: It's a single-stage, real-time detector, providing the strong accuracy-latency trade-off essential for an interactive user experience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-270827" lvl="1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Variant Choice</a:t>
            </a:r>
            <a:r>
              <a:rPr lang="en"/>
              <a:t>: We selected the "s" (small) variant as the optimal balance point: it delivers significantly higher accuracy (mAP) than the "nano" model, with much lower latency than the larger "medium" or "large" models.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26675" y="1348050"/>
            <a:ext cx="2454900" cy="2839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850"/>
              <a:t>2.</a:t>
            </a:r>
            <a:r>
              <a:rPr lang="en" sz="850"/>
              <a:t> </a:t>
            </a:r>
            <a:r>
              <a:rPr b="1" lang="en" sz="850"/>
              <a:t>Language Model Layer: The "Brain"</a:t>
            </a:r>
            <a:endParaRPr b="1" sz="850"/>
          </a:p>
          <a:p>
            <a:pPr indent="-282575" lvl="0" marL="314325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Component</a:t>
            </a:r>
            <a:r>
              <a:rPr lang="en" sz="850"/>
              <a:t>: recipe_generator.py</a:t>
            </a:r>
            <a:br>
              <a:rPr lang="en" sz="850"/>
            </a:br>
            <a:endParaRPr sz="850"/>
          </a:p>
          <a:p>
            <a:pPr indent="-282575" lvl="0" marL="314325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Function</a:t>
            </a:r>
            <a:r>
              <a:rPr lang="en" sz="850"/>
              <a:t>: Builds a single, highly-specific prompt from the final ingredient list and the user's chosen meal type.</a:t>
            </a:r>
            <a:br>
              <a:rPr lang="en" sz="850"/>
            </a:br>
            <a:endParaRPr sz="850"/>
          </a:p>
          <a:p>
            <a:pPr indent="-282575" lvl="0" marL="314325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How it Works</a:t>
            </a:r>
            <a:r>
              <a:rPr lang="en" sz="850"/>
              <a:t>:</a:t>
            </a:r>
            <a:br>
              <a:rPr lang="en" sz="850"/>
            </a:br>
            <a:endParaRPr sz="850"/>
          </a:p>
          <a:p>
            <a:pPr indent="-269875" lvl="1" marL="485775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b="1" lang="en" sz="650"/>
              <a:t>API</a:t>
            </a:r>
            <a:r>
              <a:rPr lang="en" sz="650"/>
              <a:t>: Calls the Deepseek LLM via the efficient OpenRouter gateway.</a:t>
            </a:r>
            <a:br>
              <a:rPr lang="en" sz="650"/>
            </a:br>
            <a:endParaRPr sz="650"/>
          </a:p>
          <a:p>
            <a:pPr indent="-269875" lvl="1" marL="485775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b="1" lang="en" sz="650"/>
              <a:t>Prompt Engineering</a:t>
            </a:r>
            <a:r>
              <a:rPr lang="en" sz="650"/>
              <a:t>: To overcome API rate limits, we designed a single prompt that instructs the model to generate both a healthy and a tasty recipe in one response.</a:t>
            </a:r>
            <a:br>
              <a:rPr lang="en" sz="650"/>
            </a:br>
            <a:endParaRPr sz="650"/>
          </a:p>
          <a:p>
            <a:pPr indent="-269875" lvl="1" marL="485775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b="1" lang="en" sz="650"/>
              <a:t>Efficient Parsing</a:t>
            </a:r>
            <a:r>
              <a:rPr lang="en" sz="650"/>
              <a:t>: The prompt requires the model to insert a unique ---SEPARATOR--- token between the two recipes, allowing for robust and deterministic splitting of the response text with minimal overhead.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5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5913525" y="1348050"/>
            <a:ext cx="2622600" cy="2839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/>
              <a:t>3.</a:t>
            </a:r>
            <a:r>
              <a:rPr lang="en" sz="850"/>
              <a:t> </a:t>
            </a:r>
            <a:r>
              <a:rPr b="1" lang="en" sz="850"/>
              <a:t>Frontend Orchestration: The "User Experience"</a:t>
            </a:r>
            <a:endParaRPr b="1" sz="850"/>
          </a:p>
          <a:p>
            <a:pPr indent="-282575" lvl="0" marL="314325" rtl="0" algn="l">
              <a:spcBef>
                <a:spcPts val="120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Framework</a:t>
            </a:r>
            <a:r>
              <a:rPr lang="en" sz="850"/>
              <a:t>: Streamlit</a:t>
            </a:r>
            <a:br>
              <a:rPr lang="en" sz="850"/>
            </a:br>
            <a:endParaRPr sz="850"/>
          </a:p>
          <a:p>
            <a:pPr indent="-282575" lvl="0" marL="314325" rtl="0" algn="l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Function</a:t>
            </a:r>
            <a:r>
              <a:rPr lang="en" sz="850"/>
              <a:t>: Manages the user's journey through a multi-page application logic.</a:t>
            </a:r>
            <a:br>
              <a:rPr lang="en" sz="850"/>
            </a:br>
            <a:endParaRPr sz="850"/>
          </a:p>
          <a:p>
            <a:pPr indent="-282575" lvl="0" marL="314325" rtl="0" algn="l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State Management</a:t>
            </a:r>
            <a:r>
              <a:rPr lang="en" sz="850"/>
              <a:t>: We utilized Streamlit's session_state to persist key data across pages, including:</a:t>
            </a:r>
            <a:endParaRPr sz="850"/>
          </a:p>
          <a:p>
            <a:pPr indent="-269875" lvl="1" marL="485775" rtl="0" algn="l"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lang="en" sz="650"/>
              <a:t>The selected meal type.</a:t>
            </a:r>
            <a:endParaRPr sz="650"/>
          </a:p>
          <a:p>
            <a:pPr indent="-269875" lvl="1" marL="485775" rtl="0" algn="l"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lang="en" sz="650"/>
              <a:t>The initial list of detected ingredients.</a:t>
            </a:r>
            <a:endParaRPr sz="650"/>
          </a:p>
          <a:p>
            <a:pPr indent="-269875" lvl="1" marL="485775" rtl="0" algn="l">
              <a:spcBef>
                <a:spcPts val="0"/>
              </a:spcBef>
              <a:spcAft>
                <a:spcPts val="0"/>
              </a:spcAft>
              <a:buSzPts val="650"/>
              <a:buChar char="○"/>
            </a:pPr>
            <a:r>
              <a:rPr lang="en" sz="650"/>
              <a:t>The user's final, edited ingredient list.</a:t>
            </a:r>
            <a:br>
              <a:rPr lang="en" sz="650"/>
            </a:br>
            <a:endParaRPr sz="650"/>
          </a:p>
          <a:p>
            <a:pPr indent="-282575" lvl="0" marL="314325" rtl="0" algn="l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b="1" lang="en" sz="850"/>
              <a:t>Deterministic Flow</a:t>
            </a:r>
            <a:r>
              <a:rPr lang="en" sz="850"/>
              <a:t>: The application ensures a clear and predictable user path: Upload → Confirm → Generate → Display</a:t>
            </a:r>
            <a:endParaRPr sz="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464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Model Performance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Our trained YOLOv8s model is both fast and accurate: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mAP@0.5 (Classification Accuracy): 89.2%</a:t>
            </a:r>
            <a:endParaRPr b="1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Excellent at knowing WHAT the ingredients are.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mAP@0.5:0.95 (Localization Accuracy): 71.5%</a:t>
            </a:r>
            <a:endParaRPr b="1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Good at knowing precisely WHERE they are.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Latency: ~185ms</a:t>
            </a:r>
            <a:r>
              <a:rPr lang="en" sz="1300"/>
              <a:t> per image on a T4 GPU.</a:t>
            </a:r>
            <a:endParaRPr sz="1300"/>
          </a:p>
        </p:txBody>
      </p:sp>
      <p:pic>
        <p:nvPicPr>
          <p:cNvPr id="97" name="Google Shape;97;p19" title="recipe_generation_Screenshot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015" y="116302"/>
            <a:ext cx="4061102" cy="2387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recipe_generation_Screenshot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025" y="2647175"/>
            <a:ext cx="4061093" cy="2392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3061600" y="1771650"/>
            <a:ext cx="255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Thank You</a:t>
            </a:r>
            <a:endParaRPr sz="3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506550" y="3159575"/>
            <a:ext cx="14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Questions?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